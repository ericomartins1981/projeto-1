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0" d="100"/>
          <a:sy n="80" d="100"/>
        </p:scale>
        <p:origin x="-1445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BD8B0-8561-4A47-B39F-4463B1D32E8F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5E8C0-E313-43D6-B7ED-CEF0765E60C8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BD8B0-8561-4A47-B39F-4463B1D32E8F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5E8C0-E313-43D6-B7ED-CEF0765E60C8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BD8B0-8561-4A47-B39F-4463B1D32E8F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5E8C0-E313-43D6-B7ED-CEF0765E60C8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BD8B0-8561-4A47-B39F-4463B1D32E8F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5E8C0-E313-43D6-B7ED-CEF0765E60C8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BD8B0-8561-4A47-B39F-4463B1D32E8F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5E8C0-E313-43D6-B7ED-CEF0765E60C8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BD8B0-8561-4A47-B39F-4463B1D32E8F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5E8C0-E313-43D6-B7ED-CEF0765E60C8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BD8B0-8561-4A47-B39F-4463B1D32E8F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5E8C0-E313-43D6-B7ED-CEF0765E60C8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BD8B0-8561-4A47-B39F-4463B1D32E8F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5E8C0-E313-43D6-B7ED-CEF0765E60C8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BD8B0-8561-4A47-B39F-4463B1D32E8F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5E8C0-E313-43D6-B7ED-CEF0765E60C8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BD8B0-8561-4A47-B39F-4463B1D32E8F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5E8C0-E313-43D6-B7ED-CEF0765E60C8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BD8B0-8561-4A47-B39F-4463B1D32E8F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5E8C0-E313-43D6-B7ED-CEF0765E60C8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9BD8B0-8561-4A47-B39F-4463B1D32E8F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D5E8C0-E313-43D6-B7ED-CEF0765E60C8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928934"/>
            <a:ext cx="7772400" cy="3286148"/>
          </a:xfrm>
        </p:spPr>
        <p:txBody>
          <a:bodyPr>
            <a:normAutofit fontScale="90000"/>
          </a:bodyPr>
          <a:lstStyle/>
          <a:p>
            <a:r>
              <a:rPr lang="pt-BR" sz="2200" dirty="0"/>
              <a:t>PROJETO 1 – SIMULAÇÃO DE UM CANAL SELETIVO EM FREQUÊNCIA EM AMBIENTE INDOOR  – MODELO 3GPP TR 38.901</a:t>
            </a:r>
            <a:r>
              <a:rPr lang="pt-BR" dirty="0"/>
              <a:t/>
            </a:r>
            <a:br>
              <a:rPr lang="pt-BR" dirty="0"/>
            </a:br>
            <a:r>
              <a:rPr lang="pt-BR" dirty="0" smtClean="0"/>
              <a:t/>
            </a:r>
            <a:br>
              <a:rPr lang="pt-BR" dirty="0" smtClean="0"/>
            </a:br>
            <a:r>
              <a:rPr lang="pt-BR" dirty="0"/>
              <a:t/>
            </a:r>
            <a:br>
              <a:rPr lang="pt-BR" dirty="0"/>
            </a:br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>				</a:t>
            </a:r>
            <a:r>
              <a:rPr lang="pt-BR" sz="2800" dirty="0" smtClean="0"/>
              <a:t>Érico Martins</a:t>
            </a:r>
            <a:endParaRPr lang="pt-BR" sz="28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4" name="Imagem 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85918" y="500042"/>
            <a:ext cx="5402580" cy="64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b="1" dirty="0"/>
              <a:t>Ambiente </a:t>
            </a:r>
            <a:r>
              <a:rPr lang="pt-BR" sz="3600" b="1" dirty="0" err="1" smtClean="0"/>
              <a:t>Multipercurso</a:t>
            </a:r>
            <a:r>
              <a:rPr lang="pt-BR" sz="3600" b="1" dirty="0" smtClean="0"/>
              <a:t> - Indoor</a:t>
            </a:r>
            <a:endParaRPr lang="pt-BR" sz="36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5357850"/>
          </a:xfrm>
        </p:spPr>
        <p:txBody>
          <a:bodyPr>
            <a:normAutofit/>
          </a:bodyPr>
          <a:lstStyle/>
          <a:p>
            <a:r>
              <a:rPr lang="pt-BR" sz="2000" b="1" dirty="0" smtClean="0"/>
              <a:t>Geometria Inicial</a:t>
            </a:r>
          </a:p>
          <a:p>
            <a:endParaRPr lang="pt-BR" sz="2000" b="1" dirty="0"/>
          </a:p>
          <a:p>
            <a:endParaRPr lang="pt-BR" sz="2000" b="1" dirty="0" smtClean="0"/>
          </a:p>
          <a:p>
            <a:endParaRPr lang="pt-BR" sz="2000" b="1" dirty="0" smtClean="0"/>
          </a:p>
          <a:p>
            <a:endParaRPr lang="pt-BR" sz="2000" b="1" dirty="0" smtClean="0"/>
          </a:p>
          <a:p>
            <a:endParaRPr lang="pt-BR" sz="2000" b="1" dirty="0"/>
          </a:p>
          <a:p>
            <a:endParaRPr lang="pt-BR" sz="2000" b="1" dirty="0" smtClean="0"/>
          </a:p>
          <a:p>
            <a:endParaRPr lang="pt-BR" sz="2000" b="1" dirty="0" smtClean="0"/>
          </a:p>
          <a:p>
            <a:endParaRPr lang="pt-BR" sz="2000" b="1" dirty="0" smtClean="0"/>
          </a:p>
          <a:p>
            <a:endParaRPr lang="pt-BR" sz="2000" b="1" dirty="0"/>
          </a:p>
          <a:p>
            <a:r>
              <a:rPr lang="pt-BR" sz="1600" dirty="0" smtClean="0"/>
              <a:t>Altura </a:t>
            </a:r>
            <a:r>
              <a:rPr lang="pt-BR" sz="1600" dirty="0"/>
              <a:t>da </a:t>
            </a:r>
            <a:r>
              <a:rPr lang="pt-BR" sz="1600" i="1" dirty="0"/>
              <a:t>Base </a:t>
            </a:r>
            <a:r>
              <a:rPr lang="pt-BR" sz="1600" i="1" dirty="0" err="1"/>
              <a:t>Station</a:t>
            </a:r>
            <a:r>
              <a:rPr lang="pt-BR" sz="1600" i="1" dirty="0"/>
              <a:t> </a:t>
            </a:r>
            <a:r>
              <a:rPr lang="pt-BR" sz="1600" dirty="0"/>
              <a:t>(BS) - </a:t>
            </a:r>
            <a:r>
              <a:rPr lang="pt-BR" sz="1600" i="1" dirty="0" err="1"/>
              <a:t>h</a:t>
            </a:r>
            <a:r>
              <a:rPr lang="pt-BR" sz="1600" dirty="0" err="1"/>
              <a:t>tx</a:t>
            </a:r>
            <a:r>
              <a:rPr lang="pt-BR" sz="1600" dirty="0"/>
              <a:t>: 3m.</a:t>
            </a:r>
          </a:p>
          <a:p>
            <a:r>
              <a:rPr lang="pt-BR" sz="1600" dirty="0" smtClean="0"/>
              <a:t>Altura </a:t>
            </a:r>
            <a:r>
              <a:rPr lang="pt-BR" sz="1600" dirty="0"/>
              <a:t>do </a:t>
            </a:r>
            <a:r>
              <a:rPr lang="pt-BR" sz="1600" i="1" dirty="0" err="1"/>
              <a:t>User</a:t>
            </a:r>
            <a:r>
              <a:rPr lang="pt-BR" sz="1600" i="1" dirty="0"/>
              <a:t> Terminal </a:t>
            </a:r>
            <a:r>
              <a:rPr lang="pt-BR" sz="1600" dirty="0"/>
              <a:t>(UT) - </a:t>
            </a:r>
            <a:r>
              <a:rPr lang="pt-BR" sz="1600" i="1" dirty="0" err="1"/>
              <a:t>h</a:t>
            </a:r>
            <a:r>
              <a:rPr lang="pt-BR" sz="1600" dirty="0" err="1"/>
              <a:t>rx</a:t>
            </a:r>
            <a:r>
              <a:rPr lang="pt-BR" sz="1600" dirty="0"/>
              <a:t>: 1m.</a:t>
            </a:r>
          </a:p>
          <a:p>
            <a:r>
              <a:rPr lang="pt-BR" sz="1600" dirty="0" smtClean="0"/>
              <a:t>Distância </a:t>
            </a:r>
            <a:r>
              <a:rPr lang="pt-BR" sz="1600" dirty="0"/>
              <a:t>BS-UT (2D) </a:t>
            </a:r>
            <a:r>
              <a:rPr lang="pt-BR" sz="1600" dirty="0" smtClean="0"/>
              <a:t>– </a:t>
            </a:r>
            <a:r>
              <a:rPr lang="pt-BR" sz="1600" i="1" dirty="0"/>
              <a:t>d</a:t>
            </a:r>
            <a:endParaRPr lang="pt-BR" sz="1600" dirty="0"/>
          </a:p>
          <a:p>
            <a:r>
              <a:rPr lang="pt-BR" sz="1600" dirty="0" smtClean="0"/>
              <a:t>Velocidade </a:t>
            </a:r>
            <a:r>
              <a:rPr lang="pt-BR" sz="1600" dirty="0"/>
              <a:t>da Estação Móvel – </a:t>
            </a:r>
            <a:r>
              <a:rPr lang="pt-BR" sz="1600" i="1" dirty="0" err="1"/>
              <a:t>v</a:t>
            </a:r>
            <a:r>
              <a:rPr lang="pt-BR" sz="1600" dirty="0" err="1"/>
              <a:t>rx</a:t>
            </a:r>
            <a:r>
              <a:rPr lang="pt-BR" sz="1600" dirty="0"/>
              <a:t>: 3 km/h.</a:t>
            </a:r>
          </a:p>
          <a:p>
            <a:endParaRPr lang="pt-BR" sz="2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72330" y="6143644"/>
            <a:ext cx="1857388" cy="5680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Imagem 4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73400" y="1500174"/>
            <a:ext cx="3784616" cy="3571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b="1" dirty="0"/>
              <a:t>Ambiente </a:t>
            </a:r>
            <a:r>
              <a:rPr lang="pt-BR" sz="3600" b="1" dirty="0" err="1" smtClean="0"/>
              <a:t>Multipercurso</a:t>
            </a:r>
            <a:r>
              <a:rPr lang="pt-BR" sz="3600" b="1" dirty="0" smtClean="0"/>
              <a:t> </a:t>
            </a:r>
            <a:r>
              <a:rPr lang="pt-BR" sz="3600" b="1" dirty="0" smtClean="0"/>
              <a:t>- Indoor</a:t>
            </a:r>
            <a:endParaRPr lang="pt-BR" sz="36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5357850"/>
          </a:xfrm>
        </p:spPr>
        <p:txBody>
          <a:bodyPr>
            <a:normAutofit/>
          </a:bodyPr>
          <a:lstStyle/>
          <a:p>
            <a:r>
              <a:rPr lang="pt-BR" sz="2000" b="1" dirty="0" smtClean="0"/>
              <a:t>Ângulos de Azimute e Elevação</a:t>
            </a:r>
          </a:p>
          <a:p>
            <a:endParaRPr lang="pt-BR" sz="2000" b="1" dirty="0"/>
          </a:p>
          <a:p>
            <a:endParaRPr lang="pt-BR" sz="2000" b="1" dirty="0" smtClean="0"/>
          </a:p>
          <a:p>
            <a:endParaRPr lang="pt-BR" sz="2000" b="1" dirty="0" smtClean="0"/>
          </a:p>
          <a:p>
            <a:endParaRPr lang="pt-BR" sz="2000" b="1" dirty="0" smtClean="0"/>
          </a:p>
          <a:p>
            <a:endParaRPr lang="pt-BR" sz="2000" b="1" dirty="0"/>
          </a:p>
          <a:p>
            <a:endParaRPr lang="pt-BR" sz="2000" b="1" dirty="0" smtClean="0"/>
          </a:p>
          <a:p>
            <a:endParaRPr lang="pt-BR" sz="2000" b="1" dirty="0" smtClean="0"/>
          </a:p>
          <a:p>
            <a:endParaRPr lang="pt-BR" sz="2000" b="1" dirty="0" smtClean="0"/>
          </a:p>
          <a:p>
            <a:endParaRPr lang="pt-BR" sz="2000" b="1" dirty="0" smtClean="0"/>
          </a:p>
          <a:p>
            <a:endParaRPr lang="pt-BR" sz="2000" b="1" dirty="0"/>
          </a:p>
          <a:p>
            <a:r>
              <a:rPr lang="pt-BR" sz="1600" b="1" dirty="0"/>
              <a:t>Azimute de saída</a:t>
            </a:r>
            <a:r>
              <a:rPr lang="pt-BR" sz="1600" dirty="0"/>
              <a:t>: </a:t>
            </a:r>
            <a:r>
              <a:rPr lang="pt-BR" sz="1600" i="1" dirty="0" err="1"/>
              <a:t>ϕ</a:t>
            </a:r>
            <a:r>
              <a:rPr lang="pt-BR" sz="1600" dirty="0" err="1"/>
              <a:t>LoS</a:t>
            </a:r>
            <a:r>
              <a:rPr lang="pt-BR" sz="1600" dirty="0"/>
              <a:t> = 126,87 (2,2142 </a:t>
            </a:r>
            <a:r>
              <a:rPr lang="pt-BR" sz="1600" dirty="0" err="1"/>
              <a:t>rad</a:t>
            </a:r>
            <a:r>
              <a:rPr lang="pt-BR" sz="1600" dirty="0" smtClean="0"/>
              <a:t>)</a:t>
            </a:r>
            <a:r>
              <a:rPr lang="pt-BR" sz="1600" dirty="0"/>
              <a:t> </a:t>
            </a:r>
          </a:p>
          <a:p>
            <a:r>
              <a:rPr lang="pt-BR" sz="1600" b="1" dirty="0" smtClean="0"/>
              <a:t>Azimute </a:t>
            </a:r>
            <a:r>
              <a:rPr lang="pt-BR" sz="1600" b="1" dirty="0"/>
              <a:t>de chegada</a:t>
            </a:r>
            <a:r>
              <a:rPr lang="pt-BR" sz="1600" dirty="0"/>
              <a:t>: </a:t>
            </a:r>
            <a:r>
              <a:rPr lang="pt-BR" sz="1600" i="1" dirty="0" err="1"/>
              <a:t>ϕ’</a:t>
            </a:r>
            <a:r>
              <a:rPr lang="pt-BR" sz="1600" dirty="0" err="1"/>
              <a:t>LoS</a:t>
            </a:r>
            <a:r>
              <a:rPr lang="pt-BR" sz="1600" dirty="0"/>
              <a:t> =  53.13° (0.9273 </a:t>
            </a:r>
            <a:r>
              <a:rPr lang="pt-BR" sz="1600" dirty="0" err="1"/>
              <a:t>rad</a:t>
            </a:r>
            <a:r>
              <a:rPr lang="pt-BR" sz="1600" dirty="0"/>
              <a:t>)</a:t>
            </a:r>
          </a:p>
          <a:p>
            <a:r>
              <a:rPr lang="pt-BR" sz="1600" b="1" dirty="0" smtClean="0"/>
              <a:t>Elevação </a:t>
            </a:r>
            <a:r>
              <a:rPr lang="pt-BR" sz="1600" b="1" dirty="0"/>
              <a:t>de saída</a:t>
            </a:r>
            <a:r>
              <a:rPr lang="pt-BR" sz="1600" dirty="0"/>
              <a:t>: </a:t>
            </a:r>
            <a:r>
              <a:rPr lang="pt-BR" sz="1600" i="1" dirty="0" err="1"/>
              <a:t>θ</a:t>
            </a:r>
            <a:r>
              <a:rPr lang="pt-BR" sz="1600" dirty="0" err="1"/>
              <a:t>LoS</a:t>
            </a:r>
            <a:r>
              <a:rPr lang="pt-BR" sz="1600" dirty="0"/>
              <a:t> = 94,57° (1.6505 </a:t>
            </a:r>
            <a:r>
              <a:rPr lang="pt-BR" sz="1600" dirty="0" err="1"/>
              <a:t>rad</a:t>
            </a:r>
            <a:r>
              <a:rPr lang="pt-BR" sz="1600" dirty="0"/>
              <a:t>)</a:t>
            </a:r>
          </a:p>
          <a:p>
            <a:r>
              <a:rPr lang="pt-BR" sz="1600" b="1" dirty="0" smtClean="0"/>
              <a:t>Elevação </a:t>
            </a:r>
            <a:r>
              <a:rPr lang="pt-BR" sz="1600" b="1" dirty="0"/>
              <a:t>de chegada</a:t>
            </a:r>
            <a:r>
              <a:rPr lang="pt-BR" sz="1600" dirty="0"/>
              <a:t>: </a:t>
            </a:r>
            <a:r>
              <a:rPr lang="pt-BR" sz="1600" i="1" dirty="0" err="1"/>
              <a:t>θ</a:t>
            </a:r>
            <a:r>
              <a:rPr lang="pt-BR" sz="1600" dirty="0" err="1"/>
              <a:t>’’LoS</a:t>
            </a:r>
            <a:r>
              <a:rPr lang="pt-BR" sz="1600" dirty="0"/>
              <a:t> = 85.43° (1.4910 </a:t>
            </a:r>
            <a:r>
              <a:rPr lang="pt-BR" sz="1600" dirty="0" err="1"/>
              <a:t>rad</a:t>
            </a:r>
            <a:r>
              <a:rPr lang="pt-BR" sz="1600" dirty="0" smtClean="0"/>
              <a:t>).</a:t>
            </a:r>
            <a:endParaRPr lang="pt-BR" sz="1600" dirty="0"/>
          </a:p>
          <a:p>
            <a:endParaRPr lang="pt-BR" sz="2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72330" y="6143644"/>
            <a:ext cx="1857388" cy="5680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Imagem 5" descr="C:\Users\latin\OneDrive\Documentos\PPGEE\Comunicações Móveis\4 - Projeto 1 - Simulação do canal - 3GPP\Figura 3.jpg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14612" y="1714488"/>
            <a:ext cx="4286280" cy="3714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b="1" dirty="0"/>
              <a:t>Ambiente </a:t>
            </a:r>
            <a:r>
              <a:rPr lang="pt-BR" sz="3600" b="1" dirty="0" err="1" smtClean="0"/>
              <a:t>Multipercurso</a:t>
            </a:r>
            <a:r>
              <a:rPr lang="pt-BR" sz="3600" b="1" dirty="0" smtClean="0"/>
              <a:t> </a:t>
            </a:r>
            <a:r>
              <a:rPr lang="pt-BR" sz="3600" b="1" dirty="0" smtClean="0"/>
              <a:t>- Indoor</a:t>
            </a:r>
            <a:endParaRPr lang="pt-BR" sz="36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5357850"/>
          </a:xfrm>
        </p:spPr>
        <p:txBody>
          <a:bodyPr>
            <a:normAutofit/>
          </a:bodyPr>
          <a:lstStyle/>
          <a:p>
            <a:r>
              <a:rPr lang="pt-BR" sz="2000" b="1" dirty="0" smtClean="0"/>
              <a:t>Ângulos de Azimute e Elevação</a:t>
            </a:r>
          </a:p>
          <a:p>
            <a:endParaRPr lang="pt-BR" sz="2000" b="1" dirty="0"/>
          </a:p>
          <a:p>
            <a:endParaRPr lang="pt-BR" sz="2000" b="1" dirty="0" smtClean="0"/>
          </a:p>
          <a:p>
            <a:endParaRPr lang="pt-BR" sz="2000" b="1" dirty="0" smtClean="0"/>
          </a:p>
          <a:p>
            <a:endParaRPr lang="pt-BR" sz="2000" b="1" dirty="0" smtClean="0"/>
          </a:p>
          <a:p>
            <a:endParaRPr lang="pt-BR" sz="2000" b="1" dirty="0"/>
          </a:p>
          <a:p>
            <a:endParaRPr lang="pt-BR" sz="2000" b="1" dirty="0" smtClean="0"/>
          </a:p>
          <a:p>
            <a:endParaRPr lang="pt-BR" sz="2000" b="1" dirty="0" smtClean="0"/>
          </a:p>
          <a:p>
            <a:endParaRPr lang="pt-BR" sz="2000" b="1" dirty="0" smtClean="0"/>
          </a:p>
          <a:p>
            <a:endParaRPr lang="pt-BR" sz="2000" b="1" dirty="0" smtClean="0"/>
          </a:p>
          <a:p>
            <a:endParaRPr lang="pt-BR" sz="2000" b="1" dirty="0"/>
          </a:p>
          <a:p>
            <a:r>
              <a:rPr lang="pt-BR" sz="1600" b="1" dirty="0" err="1" smtClean="0"/>
              <a:t>Frequência</a:t>
            </a:r>
            <a:r>
              <a:rPr lang="pt-BR" sz="1600" b="1" dirty="0" smtClean="0"/>
              <a:t> central</a:t>
            </a:r>
            <a:r>
              <a:rPr lang="pt-BR" sz="1600" dirty="0" smtClean="0"/>
              <a:t>: 3 </a:t>
            </a:r>
            <a:r>
              <a:rPr lang="pt-BR" sz="1600" dirty="0" err="1"/>
              <a:t>Ghz</a:t>
            </a:r>
            <a:r>
              <a:rPr lang="pt-BR" sz="1600" dirty="0"/>
              <a:t>. </a:t>
            </a:r>
          </a:p>
          <a:p>
            <a:r>
              <a:rPr lang="pt-BR" sz="1600" b="1" dirty="0" smtClean="0"/>
              <a:t>Deslocamento </a:t>
            </a:r>
            <a:r>
              <a:rPr lang="pt-BR" sz="1600" b="1" dirty="0"/>
              <a:t>da </a:t>
            </a:r>
            <a:r>
              <a:rPr lang="pt-BR" sz="1600" b="1" dirty="0" smtClean="0"/>
              <a:t>UT</a:t>
            </a:r>
            <a:r>
              <a:rPr lang="pt-BR" sz="1600" dirty="0" smtClean="0"/>
              <a:t>:</a:t>
            </a:r>
            <a:r>
              <a:rPr lang="pt-BR" sz="1600" b="1" dirty="0" smtClean="0"/>
              <a:t> </a:t>
            </a:r>
            <a:r>
              <a:rPr lang="pt-BR" sz="1600" dirty="0" smtClean="0"/>
              <a:t>Plano XY</a:t>
            </a:r>
          </a:p>
          <a:p>
            <a:r>
              <a:rPr lang="pt-BR" sz="1600" b="1" dirty="0" smtClean="0"/>
              <a:t>Distância BS-UT (2D) </a:t>
            </a:r>
            <a:r>
              <a:rPr lang="pt-BR" sz="1600" dirty="0" smtClean="0"/>
              <a:t>= 25m</a:t>
            </a:r>
            <a:endParaRPr lang="pt-BR" sz="1600" dirty="0"/>
          </a:p>
          <a:p>
            <a:r>
              <a:rPr lang="pt-BR" sz="1600" b="1" i="1" dirty="0" err="1" smtClean="0"/>
              <a:t>Vrx</a:t>
            </a:r>
            <a:r>
              <a:rPr lang="pt-BR" sz="1600" i="1" dirty="0" smtClean="0"/>
              <a:t> =</a:t>
            </a:r>
            <a:r>
              <a:rPr lang="pt-BR" sz="1600" dirty="0" smtClean="0"/>
              <a:t> 0,833 </a:t>
            </a:r>
            <a:r>
              <a:rPr lang="pt-BR" sz="1600" dirty="0"/>
              <a:t>m/s (3 Km/h</a:t>
            </a:r>
            <a:r>
              <a:rPr lang="pt-BR" sz="1600" dirty="0" smtClean="0"/>
              <a:t>)</a:t>
            </a:r>
            <a:endParaRPr lang="pt-BR" sz="1600" dirty="0"/>
          </a:p>
          <a:p>
            <a:endParaRPr lang="pt-BR" sz="2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72330" y="6143644"/>
            <a:ext cx="1857388" cy="5680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Imagem 5" descr="C:\Users\latin\OneDrive\Documentos\PPGEE\Comunicações Móveis\4 - Projeto 1 - Simulação do canal - 3GPP\Figura 3.jpg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14612" y="1714488"/>
            <a:ext cx="4286280" cy="3714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b="1" dirty="0" smtClean="0"/>
              <a:t>Ambiente </a:t>
            </a:r>
            <a:r>
              <a:rPr lang="pt-BR" sz="4000" b="1" dirty="0" err="1" smtClean="0"/>
              <a:t>Multipercurso</a:t>
            </a:r>
            <a:r>
              <a:rPr lang="pt-BR" sz="4000" b="1" dirty="0" smtClean="0"/>
              <a:t> - Indoor</a:t>
            </a:r>
            <a:endParaRPr lang="pt-BR" sz="36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5357850"/>
          </a:xfrm>
        </p:spPr>
        <p:txBody>
          <a:bodyPr>
            <a:normAutofit/>
          </a:bodyPr>
          <a:lstStyle/>
          <a:p>
            <a:endParaRPr lang="pt-BR" sz="2000" b="1" dirty="0"/>
          </a:p>
          <a:p>
            <a:endParaRPr lang="pt-BR" sz="2000" b="1" dirty="0" smtClean="0"/>
          </a:p>
          <a:p>
            <a:endParaRPr lang="pt-BR" sz="2000" b="1" dirty="0" smtClean="0"/>
          </a:p>
          <a:p>
            <a:endParaRPr lang="pt-BR" sz="2000" b="1" dirty="0" smtClean="0"/>
          </a:p>
          <a:p>
            <a:endParaRPr lang="pt-BR" sz="2000" b="1" dirty="0"/>
          </a:p>
          <a:p>
            <a:endParaRPr lang="pt-BR" sz="2000" b="1" dirty="0" smtClean="0"/>
          </a:p>
          <a:p>
            <a:endParaRPr lang="pt-BR" sz="2000" b="1" dirty="0" smtClean="0"/>
          </a:p>
          <a:p>
            <a:endParaRPr lang="pt-BR" sz="2000" b="1" dirty="0" smtClean="0"/>
          </a:p>
          <a:p>
            <a:endParaRPr lang="pt-BR" sz="2000" b="1" dirty="0" smtClean="0"/>
          </a:p>
          <a:p>
            <a:endParaRPr lang="pt-BR" sz="2000" b="1" dirty="0"/>
          </a:p>
          <a:p>
            <a:r>
              <a:rPr lang="pt-BR" sz="1600" dirty="0" err="1"/>
              <a:t>PLoS</a:t>
            </a:r>
            <a:r>
              <a:rPr lang="pt-BR" sz="1600" dirty="0"/>
              <a:t> (25) = </a:t>
            </a:r>
            <a:r>
              <a:rPr lang="pt-BR" sz="1600" dirty="0" smtClean="0"/>
              <a:t>0,181423909.</a:t>
            </a:r>
            <a:r>
              <a:rPr lang="pt-BR" sz="1600" dirty="0"/>
              <a:t> </a:t>
            </a:r>
          </a:p>
          <a:p>
            <a:r>
              <a:rPr lang="pt-BR" sz="1600" b="1" dirty="0" smtClean="0"/>
              <a:t>Deslocamento </a:t>
            </a:r>
            <a:r>
              <a:rPr lang="pt-BR" sz="1600" b="1" dirty="0"/>
              <a:t>da </a:t>
            </a:r>
            <a:r>
              <a:rPr lang="pt-BR" sz="1600" b="1" dirty="0" smtClean="0"/>
              <a:t>UT</a:t>
            </a:r>
            <a:r>
              <a:rPr lang="pt-BR" sz="1600" dirty="0" smtClean="0"/>
              <a:t>:</a:t>
            </a:r>
            <a:r>
              <a:rPr lang="pt-BR" sz="1600" b="1" dirty="0" smtClean="0"/>
              <a:t> </a:t>
            </a:r>
            <a:r>
              <a:rPr lang="pt-BR" sz="1600" dirty="0" smtClean="0"/>
              <a:t>Plano XY</a:t>
            </a:r>
          </a:p>
          <a:p>
            <a:r>
              <a:rPr lang="pt-BR" sz="1600" b="1" dirty="0" smtClean="0"/>
              <a:t>Distância BS-UT (2D) </a:t>
            </a:r>
            <a:r>
              <a:rPr lang="pt-BR" sz="1600" dirty="0" smtClean="0"/>
              <a:t>= 25m</a:t>
            </a:r>
            <a:endParaRPr lang="pt-BR" sz="1600" dirty="0"/>
          </a:p>
          <a:p>
            <a:r>
              <a:rPr lang="pt-BR" sz="1600" b="1" i="1" dirty="0" err="1" smtClean="0"/>
              <a:t>Vrx</a:t>
            </a:r>
            <a:r>
              <a:rPr lang="pt-BR" sz="1600" i="1" dirty="0" smtClean="0"/>
              <a:t> =</a:t>
            </a:r>
            <a:r>
              <a:rPr lang="pt-BR" sz="1600" dirty="0" smtClean="0"/>
              <a:t> 0,833 </a:t>
            </a:r>
            <a:r>
              <a:rPr lang="pt-BR" sz="1600" dirty="0"/>
              <a:t>m/s (3 Km/h</a:t>
            </a:r>
            <a:r>
              <a:rPr lang="pt-BR" sz="1600" dirty="0" smtClean="0"/>
              <a:t>)</a:t>
            </a:r>
            <a:endParaRPr lang="pt-BR" sz="1600" dirty="0"/>
          </a:p>
          <a:p>
            <a:endParaRPr lang="pt-BR" sz="2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72330" y="6143644"/>
            <a:ext cx="1857388" cy="5680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Imagem 6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73250" y="2727325"/>
            <a:ext cx="5397500" cy="1403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sz="4000" b="1" dirty="0" smtClean="0"/>
              <a:t>Parâmetros </a:t>
            </a:r>
            <a:r>
              <a:rPr lang="pt-BR" sz="4000" b="1" dirty="0"/>
              <a:t>de Larga Escala</a:t>
            </a:r>
            <a:r>
              <a:rPr lang="pt-BR" sz="3600" dirty="0"/>
              <a:t/>
            </a:r>
            <a:br>
              <a:rPr lang="pt-BR" sz="3600" dirty="0"/>
            </a:br>
            <a:endParaRPr lang="pt-BR" sz="36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5357850"/>
          </a:xfrm>
        </p:spPr>
        <p:txBody>
          <a:bodyPr>
            <a:normAutofit/>
          </a:bodyPr>
          <a:lstStyle/>
          <a:p>
            <a:endParaRPr lang="pt-BR" sz="2000" b="1" dirty="0"/>
          </a:p>
          <a:p>
            <a:endParaRPr lang="pt-BR" sz="2000" b="1" dirty="0" smtClean="0"/>
          </a:p>
          <a:p>
            <a:endParaRPr lang="pt-BR" sz="2000" b="1" dirty="0" smtClean="0"/>
          </a:p>
          <a:p>
            <a:endParaRPr lang="pt-BR" sz="2000" b="1" dirty="0" smtClean="0"/>
          </a:p>
          <a:p>
            <a:r>
              <a:rPr lang="pt-BR" sz="2000" dirty="0"/>
              <a:t>Espalhamento de atraso – </a:t>
            </a:r>
            <a:r>
              <a:rPr lang="pt-BR" sz="2000" i="1" dirty="0" err="1"/>
              <a:t>στ</a:t>
            </a:r>
            <a:endParaRPr lang="pt-BR" sz="2000" dirty="0"/>
          </a:p>
          <a:p>
            <a:r>
              <a:rPr lang="pt-BR" sz="2000" dirty="0" smtClean="0"/>
              <a:t>Fator </a:t>
            </a:r>
            <a:r>
              <a:rPr lang="pt-BR" sz="2000" dirty="0"/>
              <a:t>de Rice – KR (Nulo caso o enlace seja </a:t>
            </a:r>
            <a:r>
              <a:rPr lang="pt-BR" sz="2000" dirty="0" err="1"/>
              <a:t>NLoS</a:t>
            </a:r>
            <a:r>
              <a:rPr lang="pt-BR" sz="2000" dirty="0"/>
              <a:t>)</a:t>
            </a:r>
          </a:p>
          <a:p>
            <a:r>
              <a:rPr lang="pt-BR" sz="2000" dirty="0" smtClean="0"/>
              <a:t>Espalhamento </a:t>
            </a:r>
            <a:r>
              <a:rPr lang="pt-BR" sz="2000" dirty="0"/>
              <a:t>azimutal de saída – </a:t>
            </a:r>
            <a:r>
              <a:rPr lang="pt-BR" sz="2000" i="1" dirty="0" err="1"/>
              <a:t>σϕ</a:t>
            </a:r>
            <a:r>
              <a:rPr lang="pt-BR" sz="2000" dirty="0"/>
              <a:t>;</a:t>
            </a:r>
            <a:r>
              <a:rPr lang="pt-BR" sz="2000" dirty="0" err="1"/>
              <a:t>AoD</a:t>
            </a:r>
            <a:endParaRPr lang="pt-BR" sz="2000" dirty="0"/>
          </a:p>
          <a:p>
            <a:r>
              <a:rPr lang="pt-BR" sz="2000" dirty="0" smtClean="0"/>
              <a:t>Espalhamento </a:t>
            </a:r>
            <a:r>
              <a:rPr lang="pt-BR" sz="2000" dirty="0"/>
              <a:t>azimutal de chegada – </a:t>
            </a:r>
            <a:r>
              <a:rPr lang="pt-BR" sz="2000" i="1" dirty="0" err="1"/>
              <a:t>σϕ</a:t>
            </a:r>
            <a:r>
              <a:rPr lang="pt-BR" sz="2000" dirty="0"/>
              <a:t>;</a:t>
            </a:r>
            <a:r>
              <a:rPr lang="pt-BR" sz="2000" dirty="0" err="1"/>
              <a:t>AoA</a:t>
            </a:r>
            <a:endParaRPr lang="pt-BR" sz="2000" dirty="0"/>
          </a:p>
          <a:p>
            <a:r>
              <a:rPr lang="pt-BR" sz="2000" dirty="0" smtClean="0"/>
              <a:t>Espalhamento </a:t>
            </a:r>
            <a:r>
              <a:rPr lang="pt-BR" sz="2000" dirty="0"/>
              <a:t>em elevação de saída – </a:t>
            </a:r>
            <a:r>
              <a:rPr lang="pt-BR" sz="2000" i="1" dirty="0" err="1"/>
              <a:t>σθ</a:t>
            </a:r>
            <a:r>
              <a:rPr lang="pt-BR" sz="2000" dirty="0"/>
              <a:t>;</a:t>
            </a:r>
            <a:r>
              <a:rPr lang="pt-BR" sz="2000" dirty="0" err="1"/>
              <a:t>ZoD</a:t>
            </a:r>
            <a:endParaRPr lang="pt-BR" sz="2000" dirty="0"/>
          </a:p>
          <a:p>
            <a:r>
              <a:rPr lang="pt-BR" sz="2000" dirty="0" smtClean="0"/>
              <a:t>Espalhamento </a:t>
            </a:r>
            <a:r>
              <a:rPr lang="pt-BR" sz="2000" dirty="0"/>
              <a:t>em elevação de chegada – </a:t>
            </a:r>
            <a:r>
              <a:rPr lang="pt-BR" sz="2000" i="1" dirty="0" err="1"/>
              <a:t>σθ</a:t>
            </a:r>
            <a:r>
              <a:rPr lang="pt-BR" sz="2000" dirty="0"/>
              <a:t>;</a:t>
            </a:r>
            <a:r>
              <a:rPr lang="pt-BR" sz="2000" dirty="0" err="1"/>
              <a:t>ZoA</a:t>
            </a:r>
            <a:endParaRPr lang="pt-BR" sz="2000" b="1" dirty="0"/>
          </a:p>
          <a:p>
            <a:endParaRPr lang="pt-BR" sz="2000" b="1" dirty="0" smtClean="0"/>
          </a:p>
          <a:p>
            <a:endParaRPr lang="pt-BR" sz="2000" b="1" dirty="0" smtClean="0"/>
          </a:p>
          <a:p>
            <a:endParaRPr lang="pt-BR" sz="2000" b="1" dirty="0" smtClean="0"/>
          </a:p>
          <a:p>
            <a:endParaRPr lang="pt-BR" sz="2000" b="1" dirty="0" smtClean="0"/>
          </a:p>
          <a:p>
            <a:endParaRPr lang="pt-BR" sz="2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72330" y="6143644"/>
            <a:ext cx="1857388" cy="5680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sz="4000" b="1" dirty="0" smtClean="0"/>
              <a:t>Parâmetros </a:t>
            </a:r>
            <a:r>
              <a:rPr lang="pt-BR" sz="4000" b="1" dirty="0"/>
              <a:t>de </a:t>
            </a:r>
            <a:r>
              <a:rPr lang="pt-BR" sz="4000" b="1" dirty="0" smtClean="0"/>
              <a:t>Pequena </a:t>
            </a:r>
            <a:r>
              <a:rPr lang="pt-BR" sz="4000" b="1" dirty="0"/>
              <a:t>Escala</a:t>
            </a:r>
            <a:r>
              <a:rPr lang="pt-BR" sz="3600" dirty="0"/>
              <a:t/>
            </a:r>
            <a:br>
              <a:rPr lang="pt-BR" sz="3600" dirty="0"/>
            </a:br>
            <a:endParaRPr lang="pt-BR" sz="36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5357850"/>
          </a:xfrm>
        </p:spPr>
        <p:txBody>
          <a:bodyPr>
            <a:normAutofit/>
          </a:bodyPr>
          <a:lstStyle/>
          <a:p>
            <a:endParaRPr lang="pt-BR" sz="2000" b="1" dirty="0"/>
          </a:p>
          <a:p>
            <a:endParaRPr lang="pt-BR" sz="2000" b="1" dirty="0" smtClean="0"/>
          </a:p>
          <a:p>
            <a:endParaRPr lang="pt-BR" sz="2000" b="1" dirty="0" smtClean="0"/>
          </a:p>
          <a:p>
            <a:endParaRPr lang="pt-BR" sz="2000" b="1" dirty="0" smtClean="0"/>
          </a:p>
          <a:p>
            <a:endParaRPr lang="pt-BR" sz="2000" b="1" dirty="0" smtClean="0"/>
          </a:p>
          <a:p>
            <a:endParaRPr lang="pt-BR" sz="2000" b="1" dirty="0" smtClean="0"/>
          </a:p>
          <a:p>
            <a:endParaRPr lang="pt-BR" sz="2000" b="1" dirty="0" smtClean="0"/>
          </a:p>
          <a:p>
            <a:endParaRPr lang="pt-BR" sz="2000" b="1" dirty="0" smtClean="0"/>
          </a:p>
          <a:p>
            <a:endParaRPr lang="pt-BR" sz="2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72330" y="6143644"/>
            <a:ext cx="1857388" cy="5680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tângulo 5"/>
          <p:cNvSpPr/>
          <p:nvPr/>
        </p:nvSpPr>
        <p:spPr>
          <a:xfrm>
            <a:off x="857224" y="1857364"/>
            <a:ext cx="7429552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/>
              <a:t>Atraso </a:t>
            </a:r>
            <a:r>
              <a:rPr lang="pt-BR" b="1" dirty="0" err="1"/>
              <a:t>Multipercurso</a:t>
            </a:r>
            <a:endParaRPr lang="pt-BR" dirty="0"/>
          </a:p>
          <a:p>
            <a:endParaRPr lang="pt-BR" dirty="0" smtClean="0"/>
          </a:p>
          <a:p>
            <a:r>
              <a:rPr lang="pt-BR" b="1" dirty="0" smtClean="0"/>
              <a:t>Geração dos atrasos </a:t>
            </a:r>
            <a:r>
              <a:rPr lang="pt-BR" dirty="0" smtClean="0"/>
              <a:t>(</a:t>
            </a:r>
            <a:r>
              <a:rPr lang="pt-BR" i="1" dirty="0" err="1" smtClean="0"/>
              <a:t>τn</a:t>
            </a:r>
            <a:r>
              <a:rPr lang="pt-BR" i="1" dirty="0"/>
              <a:t>) </a:t>
            </a:r>
            <a:r>
              <a:rPr lang="pt-BR" dirty="0" smtClean="0"/>
              <a:t>: Determinação dos 100 atrasos a partir do Espalhamento de Atraso </a:t>
            </a:r>
            <a:r>
              <a:rPr lang="pt-BR" dirty="0"/>
              <a:t>(</a:t>
            </a:r>
            <a:r>
              <a:rPr lang="pt-BR" i="1" dirty="0" err="1"/>
              <a:t>στ</a:t>
            </a:r>
            <a:r>
              <a:rPr lang="pt-BR" dirty="0" smtClean="0"/>
              <a:t>).</a:t>
            </a:r>
          </a:p>
          <a:p>
            <a:endParaRPr lang="pt-BR" dirty="0" smtClean="0"/>
          </a:p>
          <a:p>
            <a:r>
              <a:rPr lang="pt-BR" b="1" dirty="0" smtClean="0"/>
              <a:t>Normalização e Ordenação:</a:t>
            </a:r>
            <a:r>
              <a:rPr lang="pt-BR" dirty="0" smtClean="0"/>
              <a:t> Os atrasos foram deslocados para a origem (tempo zero) e organizados em ordem.</a:t>
            </a:r>
          </a:p>
          <a:p>
            <a:endParaRPr lang="pt-BR" dirty="0" smtClean="0"/>
          </a:p>
          <a:p>
            <a:r>
              <a:rPr lang="pt-BR" b="1" dirty="0" smtClean="0"/>
              <a:t>Independência dos Índices:</a:t>
            </a:r>
            <a:r>
              <a:rPr lang="pt-BR" dirty="0" smtClean="0"/>
              <a:t> O índice de uma componente não determina seu valor real, ou seja, uma componente final não possui obrigatoriamente um atraso maior do que as anteriores.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sz="3600" dirty="0"/>
              <a:t/>
            </a:r>
            <a:br>
              <a:rPr lang="pt-BR" sz="3600" dirty="0"/>
            </a:br>
            <a:endParaRPr lang="pt-BR" sz="36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5357850"/>
          </a:xfrm>
        </p:spPr>
        <p:txBody>
          <a:bodyPr>
            <a:normAutofit/>
          </a:bodyPr>
          <a:lstStyle/>
          <a:p>
            <a:endParaRPr lang="pt-BR" sz="2000" b="1" dirty="0"/>
          </a:p>
          <a:p>
            <a:r>
              <a:rPr lang="pt-BR" sz="2000" b="1" dirty="0" smtClean="0"/>
              <a:t>Potência </a:t>
            </a:r>
            <a:r>
              <a:rPr lang="pt-BR" sz="2000" b="1" dirty="0" err="1" smtClean="0"/>
              <a:t>Multipercurso</a:t>
            </a:r>
            <a:endParaRPr lang="pt-BR" sz="2000" b="1" dirty="0" smtClean="0"/>
          </a:p>
          <a:p>
            <a:endParaRPr lang="pt-BR" sz="2000" b="1" dirty="0" smtClean="0"/>
          </a:p>
          <a:p>
            <a:endParaRPr lang="pt-BR" sz="2000" b="1" dirty="0" smtClean="0"/>
          </a:p>
          <a:p>
            <a:endParaRPr lang="pt-BR" sz="2000" b="1" dirty="0" smtClean="0"/>
          </a:p>
          <a:p>
            <a:endParaRPr lang="pt-BR" sz="2000" b="1" dirty="0" smtClean="0"/>
          </a:p>
          <a:p>
            <a:endParaRPr lang="pt-BR" sz="2000" b="1" dirty="0" smtClean="0"/>
          </a:p>
          <a:p>
            <a:endParaRPr lang="pt-BR" sz="2000" b="1" dirty="0" smtClean="0"/>
          </a:p>
          <a:p>
            <a:endParaRPr lang="pt-BR" sz="2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72330" y="6143644"/>
            <a:ext cx="1857388" cy="5680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tângulo 5"/>
          <p:cNvSpPr/>
          <p:nvPr/>
        </p:nvSpPr>
        <p:spPr>
          <a:xfrm>
            <a:off x="714348" y="3000372"/>
            <a:ext cx="785818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 smtClean="0"/>
              <a:t>Decaimento com o Atraso</a:t>
            </a:r>
            <a:r>
              <a:rPr lang="pt-BR" dirty="0" smtClean="0"/>
              <a:t>: Componentes com maior atraso percorrem trajetos mais longos e tendem a perder mais potência.</a:t>
            </a:r>
          </a:p>
          <a:p>
            <a:endParaRPr lang="pt-BR" b="1" dirty="0" smtClean="0"/>
          </a:p>
          <a:p>
            <a:r>
              <a:rPr lang="pt-BR" b="1" dirty="0" smtClean="0"/>
              <a:t>Comportamento Não Determinístico</a:t>
            </a:r>
            <a:r>
              <a:rPr lang="pt-BR" dirty="0" smtClean="0"/>
              <a:t>: Um atraso maior não significa potência menor, pois o sinal sofre flutuações aleatórias causadas pelo </a:t>
            </a:r>
            <a:r>
              <a:rPr lang="pt-BR" b="1" dirty="0" smtClean="0"/>
              <a:t>sombreamento</a:t>
            </a:r>
            <a:r>
              <a:rPr lang="pt-BR" dirty="0" smtClean="0"/>
              <a:t> </a:t>
            </a:r>
            <a:r>
              <a:rPr lang="pt-BR" dirty="0"/>
              <a:t>(</a:t>
            </a:r>
            <a:r>
              <a:rPr lang="pt-BR" i="1" dirty="0" err="1"/>
              <a:t>ξn</a:t>
            </a:r>
            <a:r>
              <a:rPr lang="pt-BR" dirty="0" smtClean="0"/>
              <a:t>).</a:t>
            </a:r>
          </a:p>
        </p:txBody>
      </p:sp>
      <p:sp>
        <p:nvSpPr>
          <p:cNvPr id="8" name="Título 1"/>
          <p:cNvSpPr txBox="1">
            <a:spLocks/>
          </p:cNvSpPr>
          <p:nvPr/>
        </p:nvSpPr>
        <p:spPr>
          <a:xfrm>
            <a:off x="609600" y="4270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Parâmetros de Pequena Escala</a:t>
            </a:r>
            <a:r>
              <a:rPr kumimoji="0" lang="pt-BR" sz="3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pt-BR" sz="3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endParaRPr kumimoji="0" lang="pt-BR" sz="3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287</Words>
  <Application>Microsoft Office PowerPoint</Application>
  <PresentationFormat>Apresentação na tela (4:3)</PresentationFormat>
  <Paragraphs>104</Paragraphs>
  <Slides>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9" baseType="lpstr">
      <vt:lpstr>Tema do Office</vt:lpstr>
      <vt:lpstr>PROJETO 1 – SIMULAÇÃO DE UM CANAL SELETIVO EM FREQUÊNCIA EM AMBIENTE INDOOR  – MODELO 3GPP TR 38.901        Érico Martins</vt:lpstr>
      <vt:lpstr>Ambiente Multipercurso - Indoor</vt:lpstr>
      <vt:lpstr>Ambiente Multipercurso - Indoor</vt:lpstr>
      <vt:lpstr>Ambiente Multipercurso - Indoor</vt:lpstr>
      <vt:lpstr>Ambiente Multipercurso - Indoor</vt:lpstr>
      <vt:lpstr>Parâmetros de Larga Escala </vt:lpstr>
      <vt:lpstr>Parâmetros de Pequena Escala </vt:lpstr>
      <vt:lpstr>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PROJETO 1 – SIMULAÇÃO DE UM CANAL SELETIVO EM FREQUÊNCIA EM AMBIENTE INDOOR  – MODELO 3GPP TR 38.901        Érico Martins</dc:title>
  <dc:creator>Érico Martins</dc:creator>
  <cp:lastModifiedBy>Érico Martins</cp:lastModifiedBy>
  <cp:revision>20</cp:revision>
  <dcterms:created xsi:type="dcterms:W3CDTF">2026-09-29T08:32:47Z</dcterms:created>
  <dcterms:modified xsi:type="dcterms:W3CDTF">2026-09-29T11:00:23Z</dcterms:modified>
</cp:coreProperties>
</file>